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5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an Zás Herrera (Omnicom)" userId="77b7ef70-7c20-4270-9606-2cc9413c673a" providerId="ADAL" clId="{D32F1A1B-CEDE-4E96-A05D-0228BBA7F826}"/>
    <pc:docChg chg="mod modSld modMainMaster">
      <pc:chgData name="Elian Zás Herrera (Omnicom)" userId="77b7ef70-7c20-4270-9606-2cc9413c673a" providerId="ADAL" clId="{D32F1A1B-CEDE-4E96-A05D-0228BBA7F826}" dt="2026-07-21T16:41:54.402" v="5" actId="33475"/>
      <pc:docMkLst>
        <pc:docMk/>
      </pc:docMkLst>
      <pc:sldChg chg="modSp mod">
        <pc:chgData name="Elian Zás Herrera (Omnicom)" userId="77b7ef70-7c20-4270-9606-2cc9413c673a" providerId="ADAL" clId="{D32F1A1B-CEDE-4E96-A05D-0228BBA7F826}" dt="2026-07-21T16:41:46.005" v="3" actId="20577"/>
        <pc:sldMkLst>
          <pc:docMk/>
          <pc:sldMk cId="0" sldId="262"/>
        </pc:sldMkLst>
        <pc:spChg chg="mod">
          <ac:chgData name="Elian Zás Herrera (Omnicom)" userId="77b7ef70-7c20-4270-9606-2cc9413c673a" providerId="ADAL" clId="{D32F1A1B-CEDE-4E96-A05D-0228BBA7F826}" dt="2026-07-21T16:41:46.005" v="3" actId="20577"/>
          <ac:spMkLst>
            <pc:docMk/>
            <pc:sldMk cId="0" sldId="262"/>
            <ac:spMk id="4" creationId="{00000000-0000-0000-0000-000000000000}"/>
          </ac:spMkLst>
        </pc:spChg>
      </pc:sldChg>
      <pc:sldMasterChg chg="addSp mod">
        <pc:chgData name="Elian Zás Herrera (Omnicom)" userId="77b7ef70-7c20-4270-9606-2cc9413c673a" providerId="ADAL" clId="{D32F1A1B-CEDE-4E96-A05D-0228BBA7F826}" dt="2026-07-21T16:41:54.402" v="4" actId="33475"/>
        <pc:sldMasterMkLst>
          <pc:docMk/>
          <pc:sldMasterMk cId="2209977519" sldId="2147483648"/>
        </pc:sldMasterMkLst>
        <pc:spChg chg="add">
          <ac:chgData name="Elian Zás Herrera (Omnicom)" userId="77b7ef70-7c20-4270-9606-2cc9413c673a" providerId="ADAL" clId="{D32F1A1B-CEDE-4E96-A05D-0228BBA7F826}" dt="2026-07-21T16:41:54.402" v="4" actId="33475"/>
          <ac:spMkLst>
            <pc:docMk/>
            <pc:sldMasterMk cId="2209977519" sldId="2147483648"/>
            <ac:spMk id="8" creationId="{A2C00982-A475-5FBC-BDDF-47383EED8AC7}"/>
          </ac:spMkLst>
        </pc:sp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C00982-A475-5FBC-BDDF-47383EED8A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371600" cy="100584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Osocio — Form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2DE"/>
                </a:solidFill>
                <a:latin typeface="Segoe UI"/>
              </a:rPr>
              <a:t>Guía de uso de la app de automatización de formularios de leads
Windows · Python + Tkinter + Selenium · 9 mercados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Qué es y qué resuelve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Una sola herramienta para generar datos, ejecutar, validar y auditar.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5855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App de escritorio para automatizar el llenado y envío de formularios de leads en varios países.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Genera los Excels de datos de prueba: </a:t>
            </a:r>
            <a:r>
              <a:rPr sz="1400">
                <a:solidFill>
                  <a:srgbClr val="454F5B"/>
                </a:solidFill>
                <a:latin typeface="Segoe UI"/>
              </a:rPr>
              <a:t>nombre, documento, teléfono, email, modelo, ciudad, dealer.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Envía los formularios reales en Chrome, Firefox, Edge y en dispositivos reales vía LambdaTest (Mac y Android).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Valida reglas de campos: </a:t>
            </a:r>
            <a:r>
              <a:rPr sz="1400">
                <a:solidFill>
                  <a:srgbClr val="454F5B"/>
                </a:solidFill>
                <a:latin typeface="Segoe UI"/>
              </a:rPr>
              <a:t>regex, largos, obligatoriedad y mensajes de error esperados, sin enviar un lead.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Programa ejecuciones recurrentes: </a:t>
            </a:r>
            <a:r>
              <a:rPr sz="1400">
                <a:solidFill>
                  <a:srgbClr val="454F5B"/>
                </a:solidFill>
                <a:latin typeface="Segoe UI"/>
              </a:rPr>
              <a:t>por ejemplo todos los martes a las 03:00, sin apretar nada.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Compara los concesionarios (dealers) de un formulario contra un Excel de referencia.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Deja evidencia: </a:t>
            </a:r>
            <a:r>
              <a:rPr sz="1400">
                <a:solidFill>
                  <a:srgbClr val="454F5B"/>
                </a:solidFill>
                <a:latin typeface="Segoe UI"/>
              </a:rPr>
              <a:t>Excel de resultados, capturas por lead, videos de LambdaTest y envío por email.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Las 5 pestañas de la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Índice de la guía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5855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1 · Envío de Leads: </a:t>
            </a:r>
            <a:r>
              <a:rPr sz="1400">
                <a:solidFill>
                  <a:srgbClr val="454F5B"/>
                </a:solidFill>
                <a:latin typeface="Segoe UI"/>
              </a:rPr>
              <a:t>la pestaña principal. Rellena y envía los formularios reales.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2 · Programación de Tests: </a:t>
            </a:r>
            <a:r>
              <a:rPr sz="1400">
                <a:solidFill>
                  <a:srgbClr val="454F5B"/>
                </a:solidFill>
                <a:latin typeface="Segoe UI"/>
              </a:rPr>
              <a:t>ejecución automática y recurrente del Envío de Leads.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3 · Validación de Campos: </a:t>
            </a:r>
            <a:r>
              <a:rPr sz="1400">
                <a:solidFill>
                  <a:srgbClr val="454F5B"/>
                </a:solidFill>
                <a:latin typeface="Segoe UI"/>
              </a:rPr>
              <a:t>chequea reglas de validación sin enviar un lead real.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4 · Generar Excels con Datos: </a:t>
            </a:r>
            <a:r>
              <a:rPr sz="1400">
                <a:solidFill>
                  <a:srgbClr val="454F5B"/>
                </a:solidFill>
                <a:latin typeface="Segoe UI"/>
              </a:rPr>
              <a:t>crea los Excels de datos de prueba que usan las otras pestañas.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5 · Comparar Dealers vs Form: </a:t>
            </a:r>
            <a:r>
              <a:rPr sz="1400">
                <a:solidFill>
                  <a:srgbClr val="454F5B"/>
                </a:solidFill>
                <a:latin typeface="Segoe UI"/>
              </a:rPr>
              <a:t>audita que los dealers del form coincidan con un Excel esperado.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Barra superior (común a todas): </a:t>
            </a:r>
            <a:r>
              <a:rPr sz="1400">
                <a:solidFill>
                  <a:srgbClr val="454F5B"/>
                </a:solidFill>
                <a:latin typeface="Segoe UI"/>
              </a:rPr>
              <a:t>Email destinatario + checkbox Enviar mail.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Al fondo de la ventana: </a:t>
            </a:r>
            <a:r>
              <a:rPr sz="1400">
                <a:solidFill>
                  <a:srgbClr val="454F5B"/>
                </a:solidFill>
                <a:latin typeface="Segoe UI"/>
              </a:rPr>
              <a:t>una consola de log con lo que va pasando.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Instalación y cómo correr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1. Requisito: </a:t>
            </a:r>
            <a:r>
              <a:rPr sz="1400">
                <a:solidFill>
                  <a:srgbClr val="454F5B"/>
                </a:solidFill>
                <a:latin typeface="Segoe UI"/>
              </a:rPr>
              <a:t>Python 3.10 o superior.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2. Activar el entorno virtual: </a:t>
            </a:r>
            <a:r>
              <a:rPr sz="1400">
                <a:solidFill>
                  <a:srgbClr val="454F5B"/>
                </a:solidFill>
                <a:latin typeface="Segoe UI"/>
              </a:rPr>
              <a:t>.\venv\Scripts\activate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3. Instalar dependencias: </a:t>
            </a:r>
            <a:r>
              <a:rPr sz="1400">
                <a:solidFill>
                  <a:srgbClr val="454F5B"/>
                </a:solidFill>
                <a:latin typeface="Segoe UI"/>
              </a:rPr>
              <a:t>pip install -r requirements.txt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4. Colocar los drivers en drivers\: </a:t>
            </a:r>
            <a:r>
              <a:rPr sz="1400">
                <a:solidFill>
                  <a:srgbClr val="454F5B"/>
                </a:solidFill>
                <a:latin typeface="Segoe UI"/>
              </a:rPr>
              <a:t>chromedriver.exe, geckodriver.exe, msedgedriver.exe. La app NO los descarga sola, usa únicamente los locales.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Correr desde el código: </a:t>
            </a:r>
            <a:r>
              <a:rPr sz="1400">
                <a:solidFill>
                  <a:srgbClr val="454F5B"/>
                </a:solidFill>
                <a:latin typeface="Segoe UI"/>
              </a:rPr>
              <a:t>python run.py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O usar el portable ya compilado: </a:t>
            </a:r>
            <a:r>
              <a:rPr sz="1400">
                <a:solidFill>
                  <a:srgbClr val="454F5B"/>
                </a:solidFill>
                <a:latin typeface="Segoe UI"/>
              </a:rPr>
              <a:t>dist\OsocioFormAutomation_portable\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Cómo leer las capturas: </a:t>
            </a:r>
            <a:r>
              <a:rPr sz="1400">
                <a:solidFill>
                  <a:srgbClr val="454F5B"/>
                </a:solidFill>
                <a:latin typeface="Segoe UI"/>
              </a:rPr>
              <a:t>los recuadros rojos numerados (1, 2, 3…) se corresponden con el punto del mismo número en el paso a paso.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Elementos comunes a toda la ventana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Email destinatario / Enviar mail: </a:t>
            </a:r>
            <a:r>
              <a:rPr sz="1400">
                <a:solidFill>
                  <a:srgbClr val="454F5B"/>
                </a:solidFill>
                <a:latin typeface="Segoe UI"/>
              </a:rPr>
              <a:t>al terminar una corrida se manda un mail de resumen. Habilita además Adjuntar resultados, Adjuntar screenshots y el modo de envío (1 por país o Consolidado).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Minimizar a la bandeja al cerrar: </a:t>
            </a:r>
            <a:r>
              <a:rPr sz="1400">
                <a:solidFill>
                  <a:srgbClr val="454F5B"/>
                </a:solidFill>
                <a:latin typeface="Segoe UI"/>
              </a:rPr>
              <a:t>si está tildado, la ❌ oculta la app en la bandeja del sistema (doble click en el ícono la reabre). Si no, la ❌ cierra la app y mata los navegadores abiertos.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Protección durante una corrida: </a:t>
            </a:r>
            <a:r>
              <a:rPr sz="1400">
                <a:solidFill>
                  <a:srgbClr val="454F5B"/>
                </a:solidFill>
                <a:latin typeface="Segoe UI"/>
              </a:rPr>
              <a:t>si hay un envío o comparación en curso, la ❌ nunca cierra ni manda a la bandeja — solo minimiza, para no cortar un proceso a la mitad.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La app recuerda tu configuración entre sesiones: </a:t>
            </a:r>
            <a:r>
              <a:rPr sz="1400">
                <a:solidFill>
                  <a:srgbClr val="454F5B"/>
                </a:solidFill>
                <a:latin typeface="Segoe UI"/>
              </a:rPr>
              <a:t>no hace falta reconfigurar todo cada vez.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A311"/>
                </a:solidFill>
                <a:latin typeface="Segoe UI"/>
              </a:rPr>
              <a:t>PESTAÑA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Envío de 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2DE"/>
                </a:solidFill>
                <a:latin typeface="Segoe UI"/>
              </a:rPr>
              <a:t>Rellena y envía los formularios reales usando los Excels de datos generados.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Envío de Leads — vista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54F5B"/>
                </a:solidFill>
                <a:latin typeface="Segoe UI"/>
              </a:rPr>
              <a:t>Los </a:t>
            </a:r>
            <a:r>
              <a:rPr sz="1300" b="0" dirty="0" err="1">
                <a:solidFill>
                  <a:srgbClr val="454F5B"/>
                </a:solidFill>
                <a:latin typeface="Segoe UI"/>
              </a:rPr>
              <a:t>números</a:t>
            </a:r>
            <a:r>
              <a:rPr sz="1300" b="0" dirty="0">
                <a:solidFill>
                  <a:srgbClr val="454F5B"/>
                </a:solidFill>
                <a:latin typeface="Segoe UI"/>
              </a:rPr>
              <a:t> se </a:t>
            </a:r>
            <a:r>
              <a:rPr sz="1300" b="0" dirty="0" err="1">
                <a:solidFill>
                  <a:srgbClr val="454F5B"/>
                </a:solidFill>
                <a:latin typeface="Segoe UI"/>
              </a:rPr>
              <a:t>corresponden</a:t>
            </a:r>
            <a:r>
              <a:rPr sz="1300" b="0" dirty="0">
                <a:solidFill>
                  <a:srgbClr val="454F5B"/>
                </a:solidFill>
                <a:latin typeface="Segoe UI"/>
              </a:rPr>
              <a:t> con el paso a paso de las </a:t>
            </a:r>
            <a:r>
              <a:rPr sz="1300" b="0" dirty="0" err="1">
                <a:solidFill>
                  <a:srgbClr val="454F5B"/>
                </a:solidFill>
                <a:latin typeface="Segoe UI"/>
              </a:rPr>
              <a:t>siguientes</a:t>
            </a:r>
            <a:r>
              <a:rPr sz="1300" b="0" dirty="0">
                <a:solidFill>
                  <a:srgbClr val="454F5B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454F5B"/>
                </a:solidFill>
                <a:latin typeface="Segoe UI"/>
              </a:rPr>
              <a:t>láminas</a:t>
            </a:r>
            <a:r>
              <a:rPr sz="1300" b="0" dirty="0">
                <a:solidFill>
                  <a:srgbClr val="454F5B"/>
                </a:solidFill>
                <a:latin typeface="Segoe UI"/>
              </a:rPr>
              <a:t>.</a:t>
            </a:r>
          </a:p>
        </p:txBody>
      </p:sp>
      <p:pic>
        <p:nvPicPr>
          <p:cNvPr id="5" name="Picture 4" descr="01_envio_de_l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329" y="1298448"/>
            <a:ext cx="9767036" cy="5148072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Configuración avanzada (⚙ Configurar)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Punto 2 — configuración unificada de toda la aplicación.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4343400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Un Excel por dispositivo o uno compartido: </a:t>
            </a:r>
            <a:r>
              <a:rPr sz="1200">
                <a:solidFill>
                  <a:srgbClr val="454F5B"/>
                </a:solidFill>
                <a:latin typeface="Segoe UI"/>
              </a:rPr>
              <a:t>para todos los dispositivos (avisa en naranja si es compartido).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Ver navegador mientras corre: </a:t>
            </a:r>
            <a:r>
              <a:rPr sz="1200">
                <a:solidFill>
                  <a:srgbClr val="454F5B"/>
                </a:solidFill>
                <a:latin typeface="Segoe UI"/>
              </a:rPr>
              <a:t>define si el navegador se abre visible u oculto (headless). Aplica a toda la app.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Pausar para login manual: </a:t>
            </a:r>
            <a:r>
              <a:rPr sz="1200">
                <a:solidFill>
                  <a:srgbClr val="454F5B"/>
                </a:solidFill>
                <a:latin typeface="Segoe UI"/>
              </a:rPr>
              <a:t>abre el navegador en la landing y frena con un cartel para que inicies sesión a mano (SSO, MFA). Al aceptar sigue el flujo normal; al cancelar corta la ejecución.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Minimizar a la bandeja al cerrar: </a:t>
            </a:r>
            <a:r>
              <a:rPr sz="1200">
                <a:solidFill>
                  <a:srgbClr val="454F5B"/>
                </a:solidFill>
                <a:latin typeface="Segoe UI"/>
              </a:rPr>
              <a:t>controla qué hace la ❌ de la ventana.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Es configuración global: </a:t>
            </a:r>
            <a:r>
              <a:rPr sz="1200">
                <a:solidFill>
                  <a:srgbClr val="454F5B"/>
                </a:solidFill>
                <a:latin typeface="Segoe UI"/>
              </a:rPr>
              <a:t>vale para Envío de Leads, Programación y Comparador de Dealers.</a:t>
            </a:r>
          </a:p>
        </p:txBody>
      </p:sp>
      <p:pic>
        <p:nvPicPr>
          <p:cNvPr id="6" name="Picture 5" descr="16_configuracion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257" y="1298448"/>
            <a:ext cx="5662725" cy="5102352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Modos de ejecución: Mercados y Excels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Puntos 3 y 4 — cómo se distribuye el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5855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MERCADOS: </a:t>
            </a:r>
            <a:r>
              <a:rPr sz="1300">
                <a:solidFill>
                  <a:srgbClr val="454F5B"/>
                </a:solidFill>
                <a:latin typeface="Segoe UI"/>
              </a:rPr>
              <a:t>decide cómo se recorren los países. Secuencial (AR → BO → …) o Paralelo (todos juntos).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EXCELS POR DISPOSITIVO: </a:t>
            </a:r>
            <a:r>
              <a:rPr sz="1300">
                <a:solidFill>
                  <a:srgbClr val="454F5B"/>
                </a:solidFill>
                <a:latin typeface="Segoe UI"/>
              </a:rPr>
              <a:t>dentro de cada país, cómo se corren los Excels de los dispositivos tildados. Chrome → Firefox → Edge uno detrás del otro, o los tres a la vez.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Son independientes entre sí: </a:t>
            </a:r>
            <a:r>
              <a:rPr sz="1300">
                <a:solidFill>
                  <a:srgbClr val="454F5B"/>
                </a:solidFill>
                <a:latin typeface="Segoe UI"/>
              </a:rPr>
              <a:t>podés combinar mercados en paralelo con excels secuenciales.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El modo Paralelo solo aplica a navegadores locales. LambdaTest corre SIEMPRE secuencial.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⚡ Enviar en paralelo por URL: </a:t>
            </a:r>
            <a:r>
              <a:rPr sz="1300">
                <a:solidFill>
                  <a:srgbClr val="454F5B"/>
                </a:solidFill>
                <a:latin typeface="Segoe UI"/>
              </a:rPr>
              <a:t>abre una ventana de navegador por cada fila del Excel, todas a la vez. Mucho más rápido para volúmenes grandes. El campo 'máx. simultáneas' (por defecto 6, rango 1-20) limita cuántas se abren para no saturar la PC. No aplica a LambdaTest y se desactiva solo en corridas programadas.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🧩 Formularios T3 2.0: </a:t>
            </a:r>
            <a:r>
              <a:rPr sz="1300">
                <a:solidFill>
                  <a:srgbClr val="454F5B"/>
                </a:solidFill>
                <a:latin typeface="Segoe UI"/>
              </a:rPr>
              <a:t>si el form es la versión nueva Adobe AEM, la app busca los Excels con sufijo _T3.xlsx.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Credenciales de LambdaTest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Punto 4 — solo visible al tildar un dispositivo LambdaTest.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4343400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Al elegir Mac LT o Android LT aparece a la derecha el panel CREDENCIALES LT.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Campos User y Key (la key se muestra enmascarada).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Se auto-completa con lo que ya tengas en lambdatest_credentials.txt.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💾 Guardar: </a:t>
            </a:r>
            <a:r>
              <a:rPr sz="1200">
                <a:solidFill>
                  <a:srgbClr val="454F5B"/>
                </a:solidFill>
                <a:latin typeface="Segoe UI"/>
              </a:rPr>
              <a:t>sobreescribe ese archivo con lo que cargaste.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Es la única forma de cargar credenciales de LambdaTest desde la app: no hay otra pantalla para esto.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El archivo está en .gitignore y no viaja en el portable con datos reales.</a:t>
            </a:r>
          </a:p>
        </p:txBody>
      </p:sp>
      <p:pic>
        <p:nvPicPr>
          <p:cNvPr id="6" name="Picture 5" descr="06_credenciales_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78392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Países a ejecutar y Datos por país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Puntos 5 y 6 — selección de mercados y edición de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4343400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PAÍSES A EJECUTAR: </a:t>
            </a:r>
            <a:r>
              <a:rPr sz="1200">
                <a:solidFill>
                  <a:srgbClr val="454F5B"/>
                </a:solidFill>
                <a:latin typeface="Segoe UI"/>
              </a:rPr>
              <a:t>click en las tarjetas (AR/BO/BR/CL/CO/EC/PY/PE/UY). Se pueden elegir varios; los links Todos / Ninguno seleccionan de un golpe. Con 0 países el botón EJECUTAR queda gris.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DATOS POR PAÍS: </a:t>
            </a:r>
            <a:r>
              <a:rPr sz="1200">
                <a:solidFill>
                  <a:srgbClr val="454F5B"/>
                </a:solidFill>
                <a:latin typeface="Segoe UI"/>
              </a:rPr>
              <a:t>previsualización y edición rápida del Excel que se va a usar, sin salir de la app.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Si el país tiene más de un Excel, el combo 'Excel a revisar' te deja elegir cuál mirar.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+ Agregar / 🗑 Eliminar / 📋 Clonar: </a:t>
            </a:r>
            <a:r>
              <a:rPr sz="1200">
                <a:solidFill>
                  <a:srgbClr val="454F5B"/>
                </a:solidFill>
                <a:latin typeface="Segoe UI"/>
              </a:rPr>
              <a:t>manejo de filas.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🔄 Actualizar: </a:t>
            </a:r>
            <a:r>
              <a:rPr sz="1200">
                <a:solidFill>
                  <a:srgbClr val="454F5B"/>
                </a:solidFill>
                <a:latin typeface="Segoe UI"/>
              </a:rPr>
              <a:t>descarta cambios y relee el Excel del disco.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💾 Guardar: </a:t>
            </a:r>
            <a:r>
              <a:rPr sz="1200">
                <a:solidFill>
                  <a:srgbClr val="454F5B"/>
                </a:solidFill>
                <a:latin typeface="Segoe UI"/>
              </a:rPr>
              <a:t>escribe la tabla de vuelta al archivo.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📂 Abrir Excel: </a:t>
            </a:r>
            <a:r>
              <a:rPr sz="1200">
                <a:solidFill>
                  <a:srgbClr val="454F5B"/>
                </a:solidFill>
                <a:latin typeface="Segoe UI"/>
              </a:rPr>
              <a:t>lo abre en Excel por si preferís editarlo ahí.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Doble click sobre cualquier celda para editarla in-line.</a:t>
            </a:r>
          </a:p>
        </p:txBody>
      </p:sp>
      <p:pic>
        <p:nvPicPr>
          <p:cNvPr id="6" name="Picture 5" descr="09_datos_por_p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78392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Ejecutar y ver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Puntos 7 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5855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EJECUTAR ENVÍO: </a:t>
            </a:r>
            <a:r>
              <a:rPr sz="1400">
                <a:solidFill>
                  <a:srgbClr val="454F5B"/>
                </a:solidFill>
                <a:latin typeface="Segoe UI"/>
              </a:rPr>
              <a:t>se habilita apenas elegís al menos un país.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Validación previa: </a:t>
            </a:r>
            <a:r>
              <a:rPr sz="1400">
                <a:solidFill>
                  <a:srgbClr val="454F5B"/>
                </a:solidFill>
                <a:latin typeface="Segoe UI"/>
              </a:rPr>
              <a:t>la app chequea que exista un Excel con al menos un lead para cada combinación país + dispositivo. Si falta o está vacío, no ejecuta nada y te dice exactamente cuál (ej. 'Colombia · Chrome: … (vacío / sin leads)').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Ver Resultados: </a:t>
            </a:r>
            <a:r>
              <a:rPr sz="1400">
                <a:solidFill>
                  <a:srgbClr val="454F5B"/>
                </a:solidFill>
                <a:latin typeface="Segoe UI"/>
              </a:rPr>
              <a:t>abre la carpeta resultados/ con el Excel y las capturas de esa corrida.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Capturas: </a:t>
            </a:r>
            <a:r>
              <a:rPr sz="1400">
                <a:solidFill>
                  <a:srgbClr val="454F5B"/>
                </a:solidFill>
                <a:latin typeface="Segoe UI"/>
              </a:rPr>
              <a:t>SOLO en navegadores locales (Chrome, Firefox, Edge).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Mac LT y Android LT NO sacan capturas: </a:t>
            </a:r>
            <a:r>
              <a:rPr sz="1400">
                <a:solidFill>
                  <a:srgbClr val="454F5B"/>
                </a:solidFill>
                <a:latin typeface="Segoe UI"/>
              </a:rPr>
              <a:t>la evidencia es el video completo de la sesión, cuyo link queda en la columna 'Video LT' del Excel de resultados.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Motivo: </a:t>
            </a:r>
            <a:r>
              <a:rPr sz="1400">
                <a:solidFill>
                  <a:srgbClr val="454F5B"/>
                </a:solidFill>
                <a:latin typeface="Segoe UI"/>
              </a:rPr>
              <a:t>cada captura contra un dispositivo real es lenta y no muestra nada que el video no muestre.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⚙ IDs Dinámicos — Campos detectados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Botón amarillo arriba a la derecha. Da de alta campos no mapeados desde la interfaz, sin editar json/ids_dinamicos.json a mano.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Muestra los campos nuevos que la automatización encontró durante las corridas, por país, con su label, ID real, tipo y si es requerido.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Resumen por país: </a:t>
            </a:r>
            <a:r>
              <a:rPr sz="1200">
                <a:solidFill>
                  <a:srgbClr val="454F5B"/>
                </a:solidFill>
                <a:latin typeface="Segoe UI"/>
              </a:rPr>
              <a:t>debajo del selector de país aparece un renglón en verde que lista, sin tener que ir uno por uno, en qué mercados hay campos nuevos pendientes (con la cantidad); si no hay ninguno, avisa en gris que no hay pendientes.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➕ Añadir valor: </a:t>
            </a:r>
            <a:r>
              <a:rPr sz="1200">
                <a:solidFill>
                  <a:srgbClr val="454F5B"/>
                </a:solidFill>
                <a:latin typeface="Segoe UI"/>
              </a:rPr>
              <a:t>se guarda al instante y queda como una etiqueta.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Varios valores = rotación aleatoria: </a:t>
            </a:r>
            <a:r>
              <a:rPr sz="1200">
                <a:solidFill>
                  <a:srgbClr val="454F5B"/>
                </a:solidFill>
                <a:latin typeface="Segoe UI"/>
              </a:rPr>
              <a:t>en cada envío la app elige uno al azar, así el campo no se llena siempre igual. Con un solo valor, usa siempre ese.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✕ en la etiqueta: </a:t>
            </a:r>
            <a:r>
              <a:rPr sz="1200">
                <a:solidFill>
                  <a:srgbClr val="454F5B"/>
                </a:solidFill>
                <a:latin typeface="Segoe UI"/>
              </a:rPr>
              <a:t>quita ese valor.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✔ Listo: </a:t>
            </a:r>
            <a:r>
              <a:rPr sz="1200">
                <a:solidFill>
                  <a:srgbClr val="454F5B"/>
                </a:solidFill>
                <a:latin typeface="Segoe UI"/>
              </a:rPr>
              <a:t>lo saca de esta lista; sus valores pasan a la solapa IDs únicos.</a:t>
            </a:r>
          </a:p>
        </p:txBody>
      </p:sp>
      <p:pic>
        <p:nvPicPr>
          <p:cNvPr id="5" name="Picture 4" descr="20_ids_dinamicos_campos_detec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4321"/>
            <a:ext cx="6720840" cy="4340838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⚙ IDs Dinámicos — IDs únicos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Alta manual de cualquier ID no mapeado: </a:t>
            </a:r>
            <a:r>
              <a:rPr sz="1200">
                <a:solidFill>
                  <a:srgbClr val="454F5B"/>
                </a:solidFill>
                <a:latin typeface="Segoe UI"/>
              </a:rPr>
              <a:t>ID, descripción opcional y países donde aplica (sin tildar ninguno = todos).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En Valor podés cargar varios: </a:t>
            </a:r>
            <a:r>
              <a:rPr sz="1200">
                <a:solidFill>
                  <a:srgbClr val="454F5B"/>
                </a:solidFill>
                <a:latin typeface="Segoe UI"/>
              </a:rPr>
              <a:t>se elige uno al azar en cada envío.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Filtro que busca por ID, descripción, valor o país. Podés escribir varias palabras: matchean las filas que las contengan todas.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Un mismo ID puede tener una fila por país, con valores distintos según el mercado.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Checkboxes con SI/NO: </a:t>
            </a:r>
            <a:r>
              <a:rPr sz="1200">
                <a:solidFill>
                  <a:srgbClr val="454F5B"/>
                </a:solidFill>
                <a:latin typeface="Segoe UI"/>
              </a:rPr>
              <a:t>para un checkbox opcional (ej. test-drive), cargá su ID con valor SI o NO. Si cargás ambos, sortea por fila. La columna del Excel tiene prioridad sobre esto.</a:t>
            </a:r>
          </a:p>
        </p:txBody>
      </p:sp>
      <p:pic>
        <p:nvPicPr>
          <p:cNvPr id="5" name="Picture 4" descr="21_ids_dinamicos_ids_un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4321"/>
            <a:ext cx="6720840" cy="4340838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⚙ IDs Dinámicos — IDs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Acá vive el mapeo entre columnas del Excel y campos del formulario real: 'la columna X del Excel va en el campo id=Y del HTML'.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País: </a:t>
            </a:r>
            <a:r>
              <a:rPr sz="1200">
                <a:solidFill>
                  <a:srgbClr val="454F5B"/>
                </a:solidFill>
                <a:latin typeface="Segoe UI"/>
              </a:rPr>
              <a:t>para qué mercado es esta fila del mapping.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Tipo: </a:t>
            </a:r>
            <a:r>
              <a:rPr sz="1200">
                <a:solidFill>
                  <a:srgbClr val="454F5B"/>
                </a:solidFill>
                <a:latin typeface="Segoe UI"/>
              </a:rPr>
              <a:t>Rellenable (input/textarea) o Dropdown (select).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ID: </a:t>
            </a:r>
            <a:r>
              <a:rPr sz="1200">
                <a:solidFill>
                  <a:srgbClr val="454F5B"/>
                </a:solidFill>
                <a:latin typeface="Segoe UI"/>
              </a:rPr>
              <a:t>el id/name real del campo en el HTML (ej. city, email, dealer).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Descripción: </a:t>
            </a:r>
            <a:r>
              <a:rPr sz="1200">
                <a:solidFill>
                  <a:srgbClr val="454F5B"/>
                </a:solidFill>
                <a:latin typeface="Segoe UI"/>
              </a:rPr>
              <a:t>el nombre de columna que vas a ver en el Excel de datos.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Data index: </a:t>
            </a:r>
            <a:r>
              <a:rPr sz="1200">
                <a:solidFill>
                  <a:srgbClr val="454F5B"/>
                </a:solidFill>
                <a:latin typeface="Segoe UI"/>
              </a:rPr>
              <a:t>la posición del dato desde 0. Las columnas A y B están reservadas a URL y Formulario, así que index 0 = columna C, index 7 = columna J.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Al guardar, la columna se agrega sola al Excel del país y el robot la usa en cada envío.</a:t>
            </a:r>
          </a:p>
        </p:txBody>
      </p:sp>
      <p:pic>
        <p:nvPicPr>
          <p:cNvPr id="5" name="Picture 4" descr="22_ids_dinamicos_ids_ex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4321"/>
            <a:ext cx="6720840" cy="4340838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⚙ IDs Dinámicos — Dependencias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Registra qué ID hijo depende de un ID padre, por país, para que la app los llene en orden.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Ejemplo clásico: </a:t>
            </a:r>
            <a:r>
              <a:rPr sz="1200">
                <a:solidFill>
                  <a:srgbClr val="454F5B"/>
                </a:solidFill>
                <a:latin typeface="Segoe UI"/>
              </a:rPr>
              <a:t>city depende de region. Hasta que no se elige la región, el dropdown de ciudad no trae opciones.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Elegís país, ID padre e ID hijo, y quedan listados abajo para editar o borrar.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Si un campo queda sin valor al enviar, la app te avisa: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Requeridos sin completar: </a:t>
            </a:r>
            <a:r>
              <a:rPr sz="1100">
                <a:solidFill>
                  <a:srgbClr val="454F5B"/>
                </a:solidFill>
                <a:latin typeface="Segoe UI"/>
              </a:rPr>
              <a:t>la fila cuenta como FAIL en el Excel de resultados.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Opcionales vacíos: </a:t>
            </a:r>
            <a:r>
              <a:rPr sz="1100">
                <a:solidFill>
                  <a:srgbClr val="454F5B"/>
                </a:solidFill>
                <a:latin typeface="Segoe UI"/>
              </a:rPr>
              <a:t>la fila sigue PASS pero suma un aviso, y el mail incluye la sección ⚠ CAMPOS SIN VALOR ASIGNADO.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En ambos casos la solución es la misma: </a:t>
            </a:r>
            <a:r>
              <a:rPr sz="1200">
                <a:solidFill>
                  <a:srgbClr val="454F5B"/>
                </a:solidFill>
                <a:latin typeface="Segoe UI"/>
              </a:rPr>
              <a:t>asignarles valor en Campos detectados.</a:t>
            </a:r>
          </a:p>
        </p:txBody>
      </p:sp>
      <p:pic>
        <p:nvPicPr>
          <p:cNvPr id="5" name="Picture 4" descr="23_ids_dinamicos_depend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4321"/>
            <a:ext cx="6720840" cy="4340838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Columnas especiales del Excel: marcar o no un checkbox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53949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Por defecto la app marca todos los checkboxes que reconoce (términos, privacidad y los obligatorios).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Para decidir vos sobre un checkbox opcional, agregá una columna al Excel:</a:t>
            </a:r>
          </a:p>
          <a:p>
            <a:pPr lvl="1"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– El encabezado = el atributo name del checkbox (o su id), tal cual está en el HTML.</a:t>
            </a:r>
          </a:p>
          <a:p>
            <a:pPr lvl="1"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– El valor de la celda = SI o NO.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Ejemplo: </a:t>
            </a:r>
            <a:r>
              <a:rPr sz="1300">
                <a:solidFill>
                  <a:srgbClr val="454F5B"/>
                </a:solidFill>
                <a:latin typeface="Segoe UI"/>
              </a:rPr>
              <a:t>los forms RAQ de Brasil tienen name='test-drive'. Poniendo NO en esa columna, no se tilda.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Es por fila: </a:t>
            </a:r>
            <a:r>
              <a:rPr sz="1300">
                <a:solidFill>
                  <a:srgbClr val="454F5B"/>
                </a:solidFill>
                <a:latin typeface="Segoe UI"/>
              </a:rPr>
              <a:t>un lead puede tener el test-drive tildado y otro 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868680"/>
            <a:ext cx="53949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Valores aceptados: </a:t>
            </a:r>
            <a:r>
              <a:rPr sz="1300">
                <a:solidFill>
                  <a:srgbClr val="454F5B"/>
                </a:solidFill>
                <a:latin typeface="Segoe UI"/>
              </a:rPr>
              <a:t>SI/NO, YES/NO, TRUE/FALSE, 1/0, X.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Si la columna no corresponde a ningún checkbox del form, se ignora sola (no rompe nada).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Funciona en todos los dispositivos: </a:t>
            </a:r>
            <a:r>
              <a:rPr sz="1300">
                <a:solidFill>
                  <a:srgbClr val="454F5B"/>
                </a:solidFill>
                <a:latin typeface="Segoe UI"/>
              </a:rPr>
              <a:t>Chrome, Firefox, Edge, Mac LT y Android LT.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No hace falta recompilar el portable: </a:t>
            </a:r>
            <a:r>
              <a:rPr sz="1300">
                <a:solidFill>
                  <a:srgbClr val="454F5B"/>
                </a:solidFill>
                <a:latin typeface="Segoe UI"/>
              </a:rPr>
              <a:t>los Excels viven en data/, afuera del .exe.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Solo aplica a checkboxes. Para textos y selects, el campo debe estar en el field_mapping del país.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Dropdowns: primero el Excel, si no aleatorio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Para los campos select mapeados (Modelo, Fecha estimada, Región, Ciudad, Concesionario…) la app respeta SIEMPRE primero lo que pusiste en el Excel: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1. Si la celda tiene valor: </a:t>
            </a:r>
            <a:r>
              <a:rPr sz="1400">
                <a:solidFill>
                  <a:srgbClr val="454F5B"/>
                </a:solidFill>
                <a:latin typeface="Segoe UI"/>
              </a:rPr>
              <a:t>busca esa opción en el dropdown y la selecciona. El match es por texto: primero exacto y si no tolerante ('contiene'), así 'Onix' matchea con 'Chevrolet Onix'.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2. Si la celda está vacía: </a:t>
            </a:r>
            <a:r>
              <a:rPr sz="1400">
                <a:solidFill>
                  <a:srgbClr val="454F5B"/>
                </a:solidFill>
                <a:latin typeface="Segoe UI"/>
              </a:rPr>
              <a:t>recién ahí elige una opción al azar, o la primera válida.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Vale para los tres motores: </a:t>
            </a:r>
            <a:r>
              <a:rPr sz="1400">
                <a:solidFill>
                  <a:srgbClr val="454F5B"/>
                </a:solidFill>
                <a:latin typeface="Segoe UI"/>
              </a:rPr>
              <a:t>navegadores locales, LambdaTest y formularios AEM / T3 2.0.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Por defecto los Excels generados dejan Modelo y Fecha estimada vacíos a propósito, para que roten al azar.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El modelo elegido queda registrado en el Excel de resultados (columna Modelo), sea el tuyo o el aleatorio.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Si el form no tiene dropdown de modelo (viene fijado en la URL), la app toma el valor de ?model= de la URL y lo escribe igual — así siempre sabés con qué modelo se envió el lead.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El modal de 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Es tu único tablero de control mientras corre el envío.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Ejecutando… / N de M mercados completados: </a:t>
            </a:r>
            <a:r>
              <a:rPr sz="1200">
                <a:solidFill>
                  <a:srgbClr val="454F5B"/>
                </a:solidFill>
                <a:latin typeface="Segoe UI"/>
              </a:rPr>
              <a:t>el avance general.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Detener: </a:t>
            </a:r>
            <a:r>
              <a:rPr sz="1200">
                <a:solidFill>
                  <a:srgbClr val="454F5B"/>
                </a:solidFill>
                <a:latin typeface="Segoe UI"/>
              </a:rPr>
              <a:t>corta todo, pidiendo confirmación. No mata el proceso de golpe: avisa a las sesiones que frenen, así que puede tardar unos segundos.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Las tres pastillas (Mercados · Excels · N mercados): </a:t>
            </a:r>
            <a:r>
              <a:rPr sz="1200">
                <a:solidFill>
                  <a:srgbClr val="454F5B"/>
                </a:solidFill>
                <a:latin typeface="Segoe UI"/>
              </a:rPr>
              <a:t>recordatorio de con qué configuración arrancó ESTA corrida, para no confundirte si después cambiás los selectores.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Una barra por mercado + dispositivo: </a:t>
            </a:r>
            <a:r>
              <a:rPr sz="1200">
                <a:solidFill>
                  <a:srgbClr val="454F5B"/>
                </a:solidFill>
                <a:latin typeface="Segoe UI"/>
              </a:rPr>
              <a:t>cada una avanza sola. Naranja mientras corre, verde al terminar. A la derecha, el estado: '0/1 lead(s) listos' → '✓ 1 OK · 0 error(es)'.</a:t>
            </a:r>
          </a:p>
        </p:txBody>
      </p:sp>
      <p:pic>
        <p:nvPicPr>
          <p:cNvPr id="5" name="Picture 4" descr="11_modal_ejec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43672"/>
            <a:ext cx="6720840" cy="4782136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El modal bloquea la ventana de atrás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Mientras el modal está abierto no podés tocar los selectores ni cambiar de pestaña.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Es a propósito: </a:t>
            </a:r>
            <a:r>
              <a:rPr sz="1200">
                <a:solidFill>
                  <a:srgbClr val="454F5B"/>
                </a:solidFill>
                <a:latin typeface="Segoe UI"/>
              </a:rPr>
              <a:t>evita que le muevas la configuración a una corrida en progreso.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El botón EJECUTAR ENVÍO se deshabilita y pasa a decir 'EN CURSO…'.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Para correr otro test en paralelo, abrí otra ventana de la app.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Cuando termina, el modal NO se cierra solo. Agrega tres cosas y espera que las leas: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Banner de email: </a:t>
            </a:r>
            <a:r>
              <a:rPr sz="1100">
                <a:solidFill>
                  <a:srgbClr val="454F5B"/>
                </a:solidFill>
                <a:latin typeface="Segoe UI"/>
              </a:rPr>
              <a:t>verde si se encoló, rojo si tildaste 'Enviar mail' pero olvidaste el destinatario, gris si estaba apagado.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Resumen final: </a:t>
            </a:r>
            <a:r>
              <a:rPr sz="1100">
                <a:solidFill>
                  <a:srgbClr val="454F5B"/>
                </a:solidFill>
                <a:latin typeface="Segoe UI"/>
              </a:rPr>
              <a:t>🟢 N OK / 🔴 N con error, sumando todos los mercados.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Botón Cerrar resultados: </a:t>
            </a:r>
            <a:r>
              <a:rPr sz="1100">
                <a:solidFill>
                  <a:srgbClr val="454F5B"/>
                </a:solidFill>
                <a:latin typeface="Segoe UI"/>
              </a:rPr>
              <a:t>es el que libera la ventana de atrás.</a:t>
            </a:r>
          </a:p>
        </p:txBody>
      </p:sp>
      <p:pic>
        <p:nvPicPr>
          <p:cNvPr id="5" name="Picture 4" descr="17_modal_sobre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Qué evidencia deja cada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53949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454F5B"/>
                </a:solidFill>
                <a:latin typeface="Segoe UI"/>
              </a:rPr>
              <a:t>Capturas en resultados/screenshots_&lt;País&gt;_&lt;Navegador&gt;&lt;N&gt;/: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landing_inicial: </a:t>
            </a:r>
            <a:r>
              <a:rPr sz="1150">
                <a:solidFill>
                  <a:srgbClr val="454F5B"/>
                </a:solidFill>
                <a:latin typeface="Segoe UI"/>
              </a:rPr>
              <a:t>la landing con el formulario inserto. Con pausa de login, se toma después de aceptar.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form_errores: </a:t>
            </a:r>
            <a:r>
              <a:rPr sz="1150">
                <a:solidFill>
                  <a:srgbClr val="454F5B"/>
                </a:solidFill>
                <a:latin typeface="Segoe UI"/>
              </a:rPr>
              <a:t>la app aprieta Enviar con el formulario VACÍO para forzar las validaciones y captura los mensajes de error. En forms multi-paso hay una por paso.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form_completado_paso1, paso2…: </a:t>
            </a:r>
            <a:r>
              <a:rPr sz="1150">
                <a:solidFill>
                  <a:srgbClr val="454F5B"/>
                </a:solidFill>
                <a:latin typeface="Segoe UI"/>
              </a:rPr>
              <a:t>cada paso cargado, justo antes de pasar al siguiente.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form_completado: </a:t>
            </a:r>
            <a:r>
              <a:rPr sz="1150">
                <a:solidFill>
                  <a:srgbClr val="454F5B"/>
                </a:solidFill>
                <a:latin typeface="Segoe UI"/>
              </a:rPr>
              <a:t>el formulario completo con todos los datos, antes de enviar.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landing_typage: </a:t>
            </a:r>
            <a:r>
              <a:rPr sz="1150">
                <a:solidFill>
                  <a:srgbClr val="454F5B"/>
                </a:solidFill>
                <a:latin typeface="Segoe UI"/>
              </a:rPr>
              <a:t>la Thank You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868680"/>
            <a:ext cx="53949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454F5B"/>
                </a:solidFill>
                <a:latin typeface="Segoe UI"/>
              </a:rPr>
              <a:t>Las capturas recortan solo el área del form (unida en partes si es más alta que la pantalla), y se comprimen: ~1-2 MB por lead.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54F5B"/>
                </a:solidFill>
                <a:latin typeface="Segoe UI"/>
              </a:rPr>
              <a:t>Chequeo de la Thank You page, en dos columnas del Excel: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TYP con CTA: </a:t>
            </a:r>
            <a:r>
              <a:rPr sz="1150">
                <a:solidFill>
                  <a:srgbClr val="454F5B"/>
                </a:solidFill>
                <a:latin typeface="Segoe UI"/>
              </a:rPr>
              <a:t>busca los links dentro de la TY, los abre uno por uno y anota texto, href, target, a qué URL llegó y la captura. Si hay varios, van separados por ||.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LINK ISSUE TYP: </a:t>
            </a:r>
            <a:r>
              <a:rPr sz="1150">
                <a:solidFill>
                  <a:srgbClr val="454F5B"/>
                </a:solidFill>
                <a:latin typeface="Segoe UI"/>
              </a:rPr>
              <a:t>detecta links rotos por HTML mal escapado (un href con un tag literal adentro), típico de una inyección de contenido mal armada. Marca SÍ con descripción y captura.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54F5B"/>
                </a:solidFill>
                <a:latin typeface="Segoe UI"/>
              </a:rPr>
              <a:t>Estas capturas se guardan aparte, en cta_evidence/. En LambdaTest el CTA se reporta igual, pero sin captura.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A311"/>
                </a:solidFill>
                <a:latin typeface="Segoe UI"/>
              </a:rPr>
              <a:t>PESTAÑA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Programación de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2DE"/>
                </a:solidFill>
                <a:latin typeface="Segoe UI"/>
              </a:rPr>
              <a:t>Ejecución automática y recurrente del Envío de Leads, sin que tengas que apretar nada.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Programación de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Mismos selectores de MERCADOS y DISPOSITIVOS que en Envío de Leads.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Si elegís LambdaTest, avisa: </a:t>
            </a:r>
            <a:r>
              <a:rPr sz="1200">
                <a:solidFill>
                  <a:srgbClr val="454F5B"/>
                </a:solidFill>
                <a:latin typeface="Segoe UI"/>
              </a:rPr>
              <a:t>'asegurate de que tu plan soporte suficientes sesiones concurrentes'.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⚙ Configurar automatización: </a:t>
            </a:r>
            <a:r>
              <a:rPr sz="1200">
                <a:solidFill>
                  <a:srgbClr val="454F5B"/>
                </a:solidFill>
                <a:latin typeface="Segoe UI"/>
              </a:rPr>
              <a:t>abre el calendario semanal.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Una vez guardada, en la pestaña principal aparece la tarjeta 'Programado en background' con el resumen del próximo disparo.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Programar test automático: </a:t>
            </a:r>
            <a:r>
              <a:rPr sz="1200">
                <a:solidFill>
                  <a:srgbClr val="454F5B"/>
                </a:solidFill>
                <a:latin typeface="Segoe UI"/>
              </a:rPr>
              <a:t>activa la programación. El botón cambia a 'Iniciar ahora' (dispara ya, sin esperar) + 'Desactivar'.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IMPORTANTE: </a:t>
            </a:r>
            <a:r>
              <a:rPr sz="1200">
                <a:solidFill>
                  <a:srgbClr val="454F5B"/>
                </a:solidFill>
                <a:latin typeface="Segoe UI"/>
              </a:rPr>
              <a:t>la app tiene que estar abierta. El monitor revisa cada 5 segundos. Si estaba cerrada, al reabrirla corre el horario pendiente del día.</a:t>
            </a:r>
          </a:p>
        </p:txBody>
      </p:sp>
      <p:pic>
        <p:nvPicPr>
          <p:cNvPr id="5" name="Picture 4" descr="04_programacion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El calendario semanal de horarios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Días (Lun a Dom): </a:t>
            </a:r>
            <a:r>
              <a:rPr sz="1200">
                <a:solidFill>
                  <a:srgbClr val="454F5B"/>
                </a:solidFill>
                <a:latin typeface="Segoe UI"/>
              </a:rPr>
              <a:t>click en un día abre su panel de horarios. Debajo se ve el estado: — (nada), N sel. (N horarios) o ● abierto.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Grilla cada 15 minutos (00:00 a 23:45): </a:t>
            </a:r>
            <a:r>
              <a:rPr sz="1200">
                <a:solidFill>
                  <a:srgbClr val="454F5B"/>
                </a:solidFill>
                <a:latin typeface="Segoe UI"/>
              </a:rPr>
              <a:t>click para tildar o destildar. Podés elegir tantos horarios como quieras en el mismo día.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Agregar horario personalizado: </a:t>
            </a:r>
            <a:r>
              <a:rPr sz="1200">
                <a:solidFill>
                  <a:srgbClr val="454F5B"/>
                </a:solidFill>
                <a:latin typeface="Segoe UI"/>
              </a:rPr>
              <a:t>campo HH:MM + botón Agregar, para horarios que no caigan en el grillado de 15 minutos.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Horarios elegidos: </a:t>
            </a:r>
            <a:r>
              <a:rPr sz="1200">
                <a:solidFill>
                  <a:srgbClr val="454F5B"/>
                </a:solidFill>
                <a:latin typeface="Segoe UI"/>
              </a:rPr>
              <a:t>aparecen como chips '✕ HH:MM'; click en el chip para sacarlo.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Modo 'Todos los días': </a:t>
            </a:r>
            <a:r>
              <a:rPr sz="1200">
                <a:solidFill>
                  <a:srgbClr val="454F5B"/>
                </a:solidFill>
                <a:latin typeface="Segoe UI"/>
              </a:rPr>
              <a:t>cualquier horario que toques se replica en vivo a los 7 días.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Guardar configuración: </a:t>
            </a:r>
            <a:r>
              <a:rPr sz="1200">
                <a:solidFill>
                  <a:srgbClr val="454F5B"/>
                </a:solidFill>
                <a:latin typeface="Segoe UI"/>
              </a:rPr>
              <a:t>valida que existan los Excel necesarios en data/ para cada combinación país + dispositivo. Si falta alguno, avisa 'Archivos Excel Faltantes'.</a:t>
            </a:r>
          </a:p>
        </p:txBody>
      </p:sp>
      <p:pic>
        <p:nvPicPr>
          <p:cNvPr id="5" name="Picture 4" descr="08_calendario_hor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Aplicar horarios a otros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Con al menos un horario tildado en el día abierto aparece la fila 'Aplicar estos horarios a otros días'.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Botón Todos: </a:t>
            </a:r>
            <a:r>
              <a:rPr sz="1200">
                <a:solidFill>
                  <a:srgbClr val="454F5B"/>
                </a:solidFill>
                <a:latin typeface="Segoe UI"/>
              </a:rPr>
              <a:t>copia instantánea a los 7 días.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O elegís días puntuales y confirmás con '✓ Aplicar a N días'.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Si un día ya tenía horarios, avisa '(se reemplaza)'.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Es distinto del modo 'Todos los días': </a:t>
            </a:r>
            <a:r>
              <a:rPr sz="1200">
                <a:solidFill>
                  <a:srgbClr val="454F5B"/>
                </a:solidFill>
                <a:latin typeface="Segoe UI"/>
              </a:rPr>
              <a:t>esto es una copia puntual de una sola vez, aquello replica en vivo cada cambio que hagas.</a:t>
            </a:r>
          </a:p>
        </p:txBody>
      </p:sp>
      <p:pic>
        <p:nvPicPr>
          <p:cNvPr id="5" name="Picture 4" descr="15_aplicar_otros_d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Países a testear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Tildá los países que se van a correr en cada disparo programado.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Link 'Seleccionar todos' para marcarlos todos juntos.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Abajo de todo, Guardar configuración.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Antes de guardar, la app valida que ya existan los Excel necesarios en data/ para cada combinación país + dispositivo elegida.</a:t>
            </a:r>
          </a:p>
        </p:txBody>
      </p:sp>
      <p:pic>
        <p:nvPicPr>
          <p:cNvPr id="5" name="Picture 4" descr="45_programacion_pa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A311"/>
                </a:solidFill>
                <a:latin typeface="Segoe UI"/>
              </a:rPr>
              <a:t>PESTAÑA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Validación de Campos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2DE"/>
                </a:solidFill>
                <a:latin typeface="Segoe UI"/>
              </a:rPr>
              <a:t>Chequea que las reglas de cada campo del form coincidan con lo esperado — sin enviar un lead real.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Validación de Campos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Tabla de URLs: </a:t>
            </a:r>
            <a:r>
              <a:rPr sz="1200">
                <a:solidFill>
                  <a:srgbClr val="454F5B"/>
                </a:solidFill>
                <a:latin typeface="Segoe UI"/>
              </a:rPr>
              <a:t>se carga desde un Excel con columnas País / URL / Formulario.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Abrir Excel: </a:t>
            </a:r>
            <a:r>
              <a:rPr sz="1200">
                <a:solidFill>
                  <a:srgbClr val="454F5B"/>
                </a:solidFill>
                <a:latin typeface="Segoe UI"/>
              </a:rPr>
              <a:t>para editarlo por fuera. Actualizar: recarga después de un cambio.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Ver navegador: </a:t>
            </a:r>
            <a:r>
              <a:rPr sz="1200">
                <a:solidFill>
                  <a:srgbClr val="454F5B"/>
                </a:solidFill>
                <a:latin typeface="Segoe UI"/>
              </a:rPr>
              <a:t>tildalo si querés ver el browser mientras corre la validación.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▶ Configuración de ID: </a:t>
            </a:r>
            <a:r>
              <a:rPr sz="1200">
                <a:solidFill>
                  <a:srgbClr val="454F5B"/>
                </a:solidFill>
                <a:latin typeface="Segoe UI"/>
              </a:rPr>
              <a:t>desplegá esta sección para mapear cada campo del formulario.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Ejecutar validación: </a:t>
            </a:r>
            <a:r>
              <a:rPr sz="1200">
                <a:solidFill>
                  <a:srgbClr val="454F5B"/>
                </a:solidFill>
                <a:latin typeface="Segoe UI"/>
              </a:rPr>
              <a:t>corre la validación real contra los formularios configurados.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Resultados: </a:t>
            </a:r>
            <a:r>
              <a:rPr sz="1200">
                <a:solidFill>
                  <a:srgbClr val="454F5B"/>
                </a:solidFill>
                <a:latin typeface="Segoe UI"/>
              </a:rPr>
              <a:t>abre la carpeta con el detalle de la validación.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La diferencia clave con Envío de Leads: </a:t>
            </a:r>
            <a:r>
              <a:rPr sz="1200">
                <a:solidFill>
                  <a:srgbClr val="454F5B"/>
                </a:solidFill>
                <a:latin typeface="Segoe UI"/>
              </a:rPr>
              <a:t>acá NUNCA se envía un lead real.</a:t>
            </a:r>
          </a:p>
        </p:txBody>
      </p:sp>
      <p:pic>
        <p:nvPicPr>
          <p:cNvPr id="5" name="Picture 4" descr="03_validacion_cam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Configuración de ID — detalle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ID: </a:t>
            </a:r>
            <a:r>
              <a:rPr sz="1200">
                <a:solidFill>
                  <a:srgbClr val="454F5B"/>
                </a:solidFill>
                <a:latin typeface="Segoe UI"/>
              </a:rPr>
              <a:t>el id real del elemento HTML en el formulario.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Descripción: </a:t>
            </a:r>
            <a:r>
              <a:rPr sz="1200">
                <a:solidFill>
                  <a:srgbClr val="454F5B"/>
                </a:solidFill>
                <a:latin typeface="Segoe UI"/>
              </a:rPr>
              <a:t>nombre legible del campo (ej. 'NOMBRE').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Dropdown: </a:t>
            </a:r>
            <a:r>
              <a:rPr sz="1200">
                <a:solidFill>
                  <a:srgbClr val="454F5B"/>
                </a:solidFill>
                <a:latin typeface="Segoe UI"/>
              </a:rPr>
              <a:t>tildalo si el campo es un select (desactiva los campos de regex, que no aplican).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Inputmode = numeric: </a:t>
            </a:r>
            <a:r>
              <a:rPr sz="1200">
                <a:solidFill>
                  <a:srgbClr val="454F5B"/>
                </a:solidFill>
                <a:latin typeface="Segoe UI"/>
              </a:rPr>
              <a:t>marca que el campo muestra teclado numérico en mobile.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Regex full: </a:t>
            </a:r>
            <a:r>
              <a:rPr sz="1200">
                <a:solidFill>
                  <a:srgbClr val="454F5B"/>
                </a:solidFill>
                <a:latin typeface="Segoe UI"/>
              </a:rPr>
              <a:t>la expresión regular del valor válido completo.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Regex char: </a:t>
            </a:r>
            <a:r>
              <a:rPr sz="1200">
                <a:solidFill>
                  <a:srgbClr val="454F5B"/>
                </a:solidFill>
                <a:latin typeface="Segoe UI"/>
              </a:rPr>
              <a:t>la de caracter por caracter, para bloquear teclas inválidas mientras se escribe.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Texto de prueba: </a:t>
            </a:r>
            <a:r>
              <a:rPr sz="1200">
                <a:solidFill>
                  <a:srgbClr val="454F5B"/>
                </a:solidFill>
                <a:latin typeface="Segoe UI"/>
              </a:rPr>
              <a:t>el valor que se va a tipear en ese campo durante la validación.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Checkboxes por país (AR/BO/BR/CH/CO/EC/PA/PE/UY): </a:t>
            </a:r>
            <a:r>
              <a:rPr sz="1200">
                <a:solidFill>
                  <a:srgbClr val="454F5B"/>
                </a:solidFill>
                <a:latin typeface="Segoe UI"/>
              </a:rPr>
              <a:t>para que la regla aplique solo a algunos mercados.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Filtro + combo de País + Limpiar filtros: </a:t>
            </a:r>
            <a:r>
              <a:rPr sz="1200">
                <a:solidFill>
                  <a:srgbClr val="454F5B"/>
                </a:solidFill>
                <a:latin typeface="Segoe UI"/>
              </a:rPr>
              <a:t>filtran la tabla de reglas de abajo.</a:t>
            </a:r>
          </a:p>
        </p:txBody>
      </p:sp>
      <p:pic>
        <p:nvPicPr>
          <p:cNvPr id="5" name="Picture 4" descr="07_configuracion_id_deta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Generador de regex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Un asistente para armar la expresión regular sin escribirla a mano.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Tildás combinaciones: </a:t>
            </a:r>
            <a:r>
              <a:rPr sz="1200">
                <a:solidFill>
                  <a:srgbClr val="454F5B"/>
                </a:solidFill>
                <a:latin typeface="Segoe UI"/>
              </a:rPr>
              <a:t>Letras minúsculas, Mayúsculas, Acentos, Espacios, Símbolos, Números.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Reglas extra: </a:t>
            </a:r>
            <a:r>
              <a:rPr sz="1200">
                <a:solidFill>
                  <a:srgbClr val="454F5B"/>
                </a:solidFill>
                <a:latin typeface="Segoe UI"/>
              </a:rPr>
              <a:t>Máx. 2 iguales seguidos, No todos iguales, Todos iguales, Al menos una vocal, Al menos una consonante, Email, Campo obligatorio.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Definís Mín. y Máx. largo.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Va mostrando en vivo el 'Regex full' y el 'Regex char' resultantes.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Botones Copiar regex full / Copia regex char para pegarlos en los campos de arriba.</a:t>
            </a:r>
          </a:p>
        </p:txBody>
      </p:sp>
      <p:pic>
        <p:nvPicPr>
          <p:cNvPr id="5" name="Picture 4" descr="12_generador_reg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39958"/>
            <a:ext cx="6720840" cy="4789564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Mensaje de error y Dependencia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Mensaje de error: </a:t>
            </a:r>
            <a:r>
              <a:rPr sz="1200">
                <a:solidFill>
                  <a:srgbClr val="454F5B"/>
                </a:solidFill>
                <a:latin typeface="Segoe UI"/>
              </a:rPr>
              <a:t>define qué mensaje espera ver la app cuando el campo falla.</a:t>
            </a:r>
          </a:p>
          <a:p>
            <a:pPr lvl="1">
              <a:spcAft>
                <a:spcPts val="700"/>
              </a:spcAft>
            </a:pPr>
            <a:r>
              <a:rPr sz="1100">
                <a:solidFill>
                  <a:srgbClr val="454F5B"/>
                </a:solidFill>
                <a:latin typeface="Segoe UI"/>
              </a:rPr>
              <a:t>– Si el campo es Dropdown, es un único mensaje.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Si no, podés cargar varias reglas regex → mensaje: </a:t>
            </a:r>
            <a:r>
              <a:rPr sz="1100">
                <a:solidFill>
                  <a:srgbClr val="454F5B"/>
                </a:solidFill>
                <a:latin typeface="Segoe UI"/>
              </a:rPr>
              <a:t>distintos mensajes según qué regla de formato se rompa.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Ojo: </a:t>
            </a:r>
            <a:r>
              <a:rPr sz="1100">
                <a:solidFill>
                  <a:srgbClr val="454F5B"/>
                </a:solidFill>
                <a:latin typeface="Segoe UI"/>
              </a:rPr>
              <a:t>primero tenés que tener un ID cargado o seleccionado, si no la app avisa 'Completá o seleccioná un ID' en vez de abrir el popup vacío.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Dependencia: </a:t>
            </a:r>
            <a:r>
              <a:rPr sz="1200">
                <a:solidFill>
                  <a:srgbClr val="454F5B"/>
                </a:solidFill>
                <a:latin typeface="Segoe UI"/>
              </a:rPr>
              <a:t>declara que este campo depende del valor de otro.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Ejemplo: </a:t>
            </a:r>
            <a:r>
              <a:rPr sz="1100">
                <a:solidFill>
                  <a:srgbClr val="454F5B"/>
                </a:solidFill>
                <a:latin typeface="Segoe UI"/>
              </a:rPr>
              <a:t>'Ciudad' solo tiene sentido si 'Región' ya tiene un valor elegido.</a:t>
            </a:r>
          </a:p>
          <a:p>
            <a:pPr lvl="1">
              <a:spcAft>
                <a:spcPts val="700"/>
              </a:spcAft>
            </a:pPr>
            <a:r>
              <a:rPr sz="1100">
                <a:solidFill>
                  <a:srgbClr val="454F5B"/>
                </a:solidFill>
                <a:latin typeface="Segoe UI"/>
              </a:rPr>
              <a:t>– Se arma como una lista de pares (ID dependiente, Valor), con botones Agregar / Editar dependencia y Eliminar dependencia.</a:t>
            </a:r>
          </a:p>
        </p:txBody>
      </p:sp>
      <p:pic>
        <p:nvPicPr>
          <p:cNvPr id="5" name="Picture 4" descr="13_mensaje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71729"/>
            <a:ext cx="6720840" cy="3726021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Tabla de reglas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Agregar regla / Editar regla: </a:t>
            </a:r>
            <a:r>
              <a:rPr sz="1200">
                <a:solidFill>
                  <a:srgbClr val="454F5B"/>
                </a:solidFill>
                <a:latin typeface="Segoe UI"/>
              </a:rPr>
              <a:t>guarda el formulario de arriba como regla nueva, o actualiza la seleccionada. El botón cambia de nombre solo según si hay una fila elegida.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Eliminar regla: </a:t>
            </a:r>
            <a:r>
              <a:rPr sz="1200">
                <a:solidFill>
                  <a:srgbClr val="454F5B"/>
                </a:solidFill>
                <a:latin typeface="Segoe UI"/>
              </a:rPr>
              <a:t>borra la regla seleccionada.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Limpiar campos: </a:t>
            </a:r>
            <a:r>
              <a:rPr sz="1200">
                <a:solidFill>
                  <a:srgbClr val="454F5B"/>
                </a:solidFill>
                <a:latin typeface="Segoe UI"/>
              </a:rPr>
              <a:t>vacía el formulario para cargar una regla nueva desde cero.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La tabla lista todo lo cargado: </a:t>
            </a:r>
            <a:r>
              <a:rPr sz="1200">
                <a:solidFill>
                  <a:srgbClr val="454F5B"/>
                </a:solidFill>
                <a:latin typeface="Segoe UI"/>
              </a:rPr>
              <a:t>ID, Dropdown, Descripción, Dependencias, Regex full, Regex char, Texto de prueba, Países y Teclado mobile.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Click en una fila para traerla al formulario de edición.</a:t>
            </a:r>
          </a:p>
        </p:txBody>
      </p:sp>
      <p:pic>
        <p:nvPicPr>
          <p:cNvPr id="5" name="Picture 4" descr="42_validacion_reg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A311"/>
                </a:solidFill>
                <a:latin typeface="Segoe UI"/>
              </a:rPr>
              <a:t>PESTAÑA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Generar Excels con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2DE"/>
                </a:solidFill>
                <a:latin typeface="Segoe UI"/>
              </a:rPr>
              <a:t>Crea los Excels de datos de prueba que después usan Envío de Leads y Programación de Tests.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Generar Excels con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MERCADO A GENERAR: </a:t>
            </a:r>
            <a:r>
              <a:rPr sz="1200">
                <a:solidFill>
                  <a:srgbClr val="454F5B"/>
                </a:solidFill>
                <a:latin typeface="Segoe UI"/>
              </a:rPr>
              <a:t>un país a la vez (se genera un Excel por mercado).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DISPOSITIVOS PARA EL EXCEL: </a:t>
            </a:r>
            <a:r>
              <a:rPr sz="1200">
                <a:solidFill>
                  <a:srgbClr val="454F5B"/>
                </a:solidFill>
                <a:latin typeface="Segoe UI"/>
              </a:rPr>
              <a:t>selección múltiple (Chrome, Firefox, Edge, Mac LT, Android LT). Se genera un Excel por dispositivo elegido.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'Es formulario T3 2.0': </a:t>
            </a:r>
            <a:r>
              <a:rPr sz="1200">
                <a:solidFill>
                  <a:srgbClr val="454F5B"/>
                </a:solidFill>
                <a:latin typeface="Segoe UI"/>
              </a:rPr>
              <a:t>tildalo si el form es la versión nueva Adobe AEM. El archivo se genera con sufijo _T3.xlsx.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Genera datos aleatorios realistas: </a:t>
            </a:r>
            <a:r>
              <a:rPr sz="1200">
                <a:solidFill>
                  <a:srgbClr val="454F5B"/>
                </a:solidFill>
                <a:latin typeface="Segoe UI"/>
              </a:rPr>
              <a:t>nombre, documento, teléfono, email, modelo, ciudad, dealer.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Los archivos quedan en data/, con el patrón Lead_information_Formulario_&lt;País&gt;_&lt;Dispositivo&gt;.xlsx</a:t>
            </a:r>
          </a:p>
        </p:txBody>
      </p:sp>
      <p:pic>
        <p:nvPicPr>
          <p:cNvPr id="5" name="Picture 4" descr="02_generar_exc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URLs y barra de acciones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URLS A PROCESAR: </a:t>
            </a:r>
            <a:r>
              <a:rPr sz="1200">
                <a:solidFill>
                  <a:srgbClr val="454F5B"/>
                </a:solidFill>
                <a:latin typeface="Segoe UI"/>
              </a:rPr>
              <a:t>elegí el formato con las pills.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'URL Landing + URL Form': </a:t>
            </a:r>
            <a:r>
              <a:rPr sz="1100">
                <a:solidFill>
                  <a:srgbClr val="454F5B"/>
                </a:solidFill>
                <a:latin typeface="Segoe UI"/>
              </a:rPr>
              <a:t>pegás pares (url landing • url form).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'Solo URL Form': </a:t>
            </a:r>
            <a:r>
              <a:rPr sz="1100">
                <a:solidFill>
                  <a:srgbClr val="454F5B"/>
                </a:solidFill>
                <a:latin typeface="Segoe UI"/>
              </a:rPr>
              <a:t>pegás únicamente la URL del formulario.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Pegá las URLs en el cuadro de texto, una por línea.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GENERAR EXCELS: </a:t>
            </a:r>
            <a:r>
              <a:rPr sz="1200">
                <a:solidFill>
                  <a:srgbClr val="454F5B"/>
                </a:solidFill>
                <a:latin typeface="Segoe UI"/>
              </a:rPr>
              <a:t>crea los archivos con datos aleatorios nuevos.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REGENERAR DATOS: </a:t>
            </a:r>
            <a:r>
              <a:rPr sz="1200">
                <a:solidFill>
                  <a:srgbClr val="454F5B"/>
                </a:solidFill>
                <a:latin typeface="Segoe UI"/>
              </a:rPr>
              <a:t>recrea los datos manteniendo las URLs ya cargadas.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Borrar URLs: </a:t>
            </a:r>
            <a:r>
              <a:rPr sz="1200">
                <a:solidFill>
                  <a:srgbClr val="454F5B"/>
                </a:solidFill>
                <a:latin typeface="Segoe UI"/>
              </a:rPr>
              <a:t>limpia el cuadro de texto.</a:t>
            </a:r>
          </a:p>
        </p:txBody>
      </p:sp>
      <p:pic>
        <p:nvPicPr>
          <p:cNvPr id="5" name="Picture 4" descr="41_generar_excels_aba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A311"/>
                </a:solidFill>
                <a:latin typeface="Segoe UI"/>
              </a:rPr>
              <a:t>PESTAÑA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Comparar Dealers vs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2DE"/>
                </a:solidFill>
                <a:latin typeface="Segoe UI"/>
              </a:rPr>
              <a:t>Audita que los concesionarios del formulario coincidan con un Excel de referencia.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Comparar Dealers — configuración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Reemplaza el bookmarklet manual que antes se pegaba en la consola del navegador.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Todo se valida EN CONJUNTO (Región → Ciudad → Dealer), nunca un dealer suelto: un mismo nombre en otra provincia no genera falsos positivos.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① MERCADO A CHEQUEAR: </a:t>
            </a:r>
            <a:r>
              <a:rPr sz="1200">
                <a:solidFill>
                  <a:srgbClr val="454F5B"/>
                </a:solidFill>
                <a:latin typeface="Segoe UI"/>
              </a:rPr>
              <a:t>cada país guarda su propia configuración automáticamente.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② NAVEGADOR: </a:t>
            </a:r>
            <a:r>
              <a:rPr sz="1200">
                <a:solidFill>
                  <a:srgbClr val="454F5B"/>
                </a:solidFill>
                <a:latin typeface="Segoe UI"/>
              </a:rPr>
              <a:t>Chrome / Firefox / Edge. LambdaTest figura como 'próximamente'.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③ EXCEL DE URLs: </a:t>
            </a:r>
            <a:r>
              <a:rPr sz="1200">
                <a:solidFill>
                  <a:srgbClr val="454F5B"/>
                </a:solidFill>
                <a:latin typeface="Segoe UI"/>
              </a:rPr>
              <a:t>columnas URL (landing) y Formulario (form). Si URL tiene valor abre landing + form; si está vacía, solo el form. Cada form genera su propia carpeta de reporte.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Solo se toman filas cuyo Formulario es una URL real, así un Excel equivocado no genera basura.</a:t>
            </a:r>
          </a:p>
        </p:txBody>
      </p:sp>
      <p:pic>
        <p:nvPicPr>
          <p:cNvPr id="5" name="Picture 4" descr="30_dealers_tab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Excel de dealers, columnas y salida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④ EXCEL DE DEALERS: </a:t>
            </a:r>
            <a:r>
              <a:rPr sz="1150">
                <a:solidFill>
                  <a:srgbClr val="454F5B"/>
                </a:solidFill>
                <a:latin typeface="Segoe UI"/>
              </a:rPr>
              <a:t>elegís el archivo y la 'Fila encabezados' (el Excel real no siempre arranca en la 1).</a:t>
            </a:r>
          </a:p>
          <a:p>
            <a:pPr lvl="1">
              <a:spcAft>
                <a:spcPts val="700"/>
              </a:spcAft>
            </a:pPr>
            <a:r>
              <a:rPr sz="1050" b="1">
                <a:solidFill>
                  <a:srgbClr val="14213D"/>
                </a:solidFill>
                <a:latin typeface="Segoe UI"/>
              </a:rPr>
              <a:t>– Con columna de filtro: </a:t>
            </a:r>
            <a:r>
              <a:rPr sz="1050">
                <a:solidFill>
                  <a:srgbClr val="454F5B"/>
                </a:solidFill>
                <a:latin typeface="Segoe UI"/>
              </a:rPr>
              <a:t>definís Columna, Valor y Condición. Incluir = deben estar. Excluir = NO deben estar (si aparecen, es FAIL).</a:t>
            </a:r>
          </a:p>
          <a:p>
            <a:pPr lvl="1">
              <a:spcAft>
                <a:spcPts val="700"/>
              </a:spcAft>
            </a:pPr>
            <a:r>
              <a:rPr sz="1050" b="1">
                <a:solidFill>
                  <a:srgbClr val="14213D"/>
                </a:solidFill>
                <a:latin typeface="Segoe UI"/>
              </a:rPr>
              <a:t>– Sin filtro: </a:t>
            </a:r>
            <a:r>
              <a:rPr sz="1050">
                <a:solidFill>
                  <a:srgbClr val="454F5B"/>
                </a:solidFill>
                <a:latin typeface="Segoe UI"/>
              </a:rPr>
              <a:t>compara todo el Excel contra el form.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⑤ COLUMNAS: </a:t>
            </a:r>
            <a:r>
              <a:rPr sz="1150">
                <a:solidFill>
                  <a:srgbClr val="454F5B"/>
                </a:solidFill>
                <a:latin typeface="Segoe UI"/>
              </a:rPr>
              <a:t>las píldoras region / city / dealer son los ids reales del select en el HTML (no cambian de país a país, aunque el texto visible sí). Desmarcá el nivel que tu form no tenga.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Verificar BAC: </a:t>
            </a:r>
            <a:r>
              <a:rPr sz="1150">
                <a:solidFill>
                  <a:srgbClr val="454F5B"/>
                </a:solidFill>
                <a:latin typeface="Segoe UI"/>
              </a:rPr>
              <a:t>opcional, muchos forms no exponen data-bac.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Columnas adicionales: </a:t>
            </a:r>
            <a:r>
              <a:rPr sz="1150">
                <a:solidFill>
                  <a:srgbClr val="454F5B"/>
                </a:solidFill>
                <a:latin typeface="Segoe UI"/>
              </a:rPr>
              <a:t>cualquier campo extra (ej. CEP → customer-cep). Se guarda por país.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Modelos: </a:t>
            </a:r>
            <a:r>
              <a:rPr sz="1150">
                <a:solidFill>
                  <a:srgbClr val="454F5B"/>
                </a:solidFill>
                <a:latin typeface="Segoe UI"/>
              </a:rPr>
              <a:t>tildalo SOLO si la lista de dealers cambia según el modelo. Si son los mismos, dejalo destildado.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📦 MODO DE SALIDA: </a:t>
            </a:r>
            <a:r>
              <a:rPr sz="1150">
                <a:solidFill>
                  <a:srgbClr val="454F5B"/>
                </a:solidFill>
                <a:latin typeface="Segoe UI"/>
              </a:rPr>
              <a:t>'Solo Excel' o 'Excel + Capturas' (PNG junto al Excel, sin ZIP).</a:t>
            </a:r>
          </a:p>
        </p:txBody>
      </p:sp>
      <p:pic>
        <p:nvPicPr>
          <p:cNvPr id="5" name="Picture 4" descr="31_dealers_tab_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Presets y 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💾 CONFIGURACIONES GUARDADAS: </a:t>
            </a:r>
            <a:r>
              <a:rPr sz="1150">
                <a:solidFill>
                  <a:srgbClr val="454F5B"/>
                </a:solidFill>
                <a:latin typeface="Segoe UI"/>
              </a:rPr>
              <a:t>guardá el mapeo completo con un nombre y reusalo.</a:t>
            </a:r>
          </a:p>
          <a:p>
            <a:pPr lvl="1">
              <a:spcAft>
                <a:spcPts val="700"/>
              </a:spcAft>
            </a:pPr>
            <a:r>
              <a:rPr sz="1050" b="1">
                <a:solidFill>
                  <a:srgbClr val="14213D"/>
                </a:solidFill>
                <a:latin typeface="Segoe UI"/>
              </a:rPr>
              <a:t>– 💾 Guardar: </a:t>
            </a:r>
            <a:r>
              <a:rPr sz="1050">
                <a:solidFill>
                  <a:srgbClr val="454F5B"/>
                </a:solidFill>
                <a:latin typeface="Segoe UI"/>
              </a:rPr>
              <a:t>crea una nueva (pregunta antes de sobrescribir).</a:t>
            </a:r>
          </a:p>
          <a:p>
            <a:pPr lvl="1">
              <a:spcAft>
                <a:spcPts val="700"/>
              </a:spcAft>
            </a:pPr>
            <a:r>
              <a:rPr sz="1050" b="1">
                <a:solidFill>
                  <a:srgbClr val="14213D"/>
                </a:solidFill>
                <a:latin typeface="Segoe UI"/>
              </a:rPr>
              <a:t>– 📂 Cargar: </a:t>
            </a:r>
            <a:r>
              <a:rPr sz="1050">
                <a:solidFill>
                  <a:srgbClr val="454F5B"/>
                </a:solidFill>
                <a:latin typeface="Segoe UI"/>
              </a:rPr>
              <a:t>aplica el preset y copia su nombre al campo, listo para editar.</a:t>
            </a:r>
          </a:p>
          <a:p>
            <a:pPr lvl="1">
              <a:spcAft>
                <a:spcPts val="700"/>
              </a:spcAft>
            </a:pPr>
            <a:r>
              <a:rPr sz="1050" b="1">
                <a:solidFill>
                  <a:srgbClr val="14213D"/>
                </a:solidFill>
                <a:latin typeface="Segoe UI"/>
              </a:rPr>
              <a:t>– ✏ Editar: </a:t>
            </a:r>
            <a:r>
              <a:rPr sz="1050">
                <a:solidFill>
                  <a:srgbClr val="454F5B"/>
                </a:solidFill>
                <a:latin typeface="Segoe UI"/>
              </a:rPr>
              <a:t>reescribe el preset con los valores actuales; renombra si cambiaste el nombre.</a:t>
            </a:r>
          </a:p>
          <a:p>
            <a:pPr lvl="1">
              <a:spcAft>
                <a:spcPts val="700"/>
              </a:spcAft>
            </a:pPr>
            <a:r>
              <a:rPr sz="1050" b="1">
                <a:solidFill>
                  <a:srgbClr val="14213D"/>
                </a:solidFill>
                <a:latin typeface="Segoe UI"/>
              </a:rPr>
              <a:t>– 🗑 Eliminar: </a:t>
            </a:r>
            <a:r>
              <a:rPr sz="1050">
                <a:solidFill>
                  <a:srgbClr val="454F5B"/>
                </a:solidFill>
                <a:latin typeface="Segoe UI"/>
              </a:rPr>
              <a:t>borra el preset, con confirmación.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Email: </a:t>
            </a:r>
            <a:r>
              <a:rPr sz="1150">
                <a:solidFill>
                  <a:srgbClr val="454F5B"/>
                </a:solidFill>
                <a:latin typeface="Segoe UI"/>
              </a:rPr>
              <a:t>se controla SOLO desde la barra superior de la app. Al terminar cada form manda el reporte (ZIP con capturas, o solo el Excel).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EJECUTAR corre en 2 fases por form: </a:t>
            </a:r>
            <a:r>
              <a:rPr sz="1150">
                <a:solidFill>
                  <a:srgbClr val="454F5B"/>
                </a:solidFill>
                <a:latin typeface="Segoe UI"/>
              </a:rPr>
              <a:t>Fase 1 compara y guarda el Excel enseguida; Fase 2 (opcional) toma las capturas. Así, si frenás en la Fase 2, el reporte igual queda.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454F5B"/>
                </a:solidFill>
                <a:latin typeface="Segoe UI"/>
              </a:rPr>
              <a:t>Cada form deja su carpeta propia dentro de Dealerscheck_resultados/.</a:t>
            </a:r>
          </a:p>
        </p:txBody>
      </p:sp>
      <p:pic>
        <p:nvPicPr>
          <p:cNvPr id="5" name="Picture 4" descr="44_dealers_aba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Estados del reporte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Colores que vas a ver en el Excel de resultados.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98448"/>
          <a:ext cx="1091153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Estado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Color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Qué significa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Verde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El dealer/combinación está como debe (o correctamente ausente en modo Excluir).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FAIL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Rojo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No está cuando debía (Incluir), o está cuando no debía (Excluir).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EXTRA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Amarillo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Aparece en el form pero no está declarado en el Excel.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DUPLICADO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Naranja claro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Aparece más de una vez en el mismo dropdown del form.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OCULTO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Naranja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Está en el form pero declarado solo en filas que no se ven del Excel.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NOTA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Celeste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Mismo dealer, difiere en detalles menores (mayúsculas, guiones, paréntesis). Cuenta como OK.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Detalles finos del Comparador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Formularios de 1, 2 o 3 pasos: </a:t>
            </a:r>
            <a:r>
              <a:rPr sz="1300">
                <a:solidFill>
                  <a:srgbClr val="454F5B"/>
                </a:solidFill>
                <a:latin typeface="Segoe UI"/>
              </a:rPr>
              <a:t>si los dropdowns están más adelante, el comparador avanza los pasos completando los requeridos con valores sintéticos, SIN tocar region/city/dealer. Nunca envía el formulario.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Activá solo los niveles que el form realmente tiene. Si tiene city + dealer pero no region, dejá region apagado: si no, cada fila fallará buscando una región inexistente.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Nombres con caracteres especiales: </a:t>
            </a:r>
            <a:r>
              <a:rPr sz="1300">
                <a:solidFill>
                  <a:srgbClr val="454F5B"/>
                </a:solidFill>
                <a:latin typeface="Segoe UI"/>
              </a:rPr>
              <a:t>el matching tolera puntuación y espaciado. "DANTE D'AMICO S.A. - MATADEROS" matchea con "DANTE D AMICO S.A. – MATADEROS". Cuentan como PASS con NOTA. Lo que sí da error es contenido de más o de menos ('Pepito' vs 'Pepito Hernández').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Filas que no se ven — la app distingue la causa:</a:t>
            </a:r>
          </a:p>
          <a:p>
            <a:pPr lvl="1"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– 🔎 Filtradas: </a:t>
            </a:r>
            <a:r>
              <a:rPr sz="1200">
                <a:solidFill>
                  <a:srgbClr val="454F5B"/>
                </a:solidFill>
                <a:latin typeface="Segoe UI"/>
              </a:rPr>
              <a:t>escondidas por un AutoFilter activo. Reaparecen si sacás el filtro.</a:t>
            </a:r>
          </a:p>
          <a:p>
            <a:pPr lvl="1"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– 🙈 Ocultas: </a:t>
            </a:r>
            <a:r>
              <a:rPr sz="1200">
                <a:solidFill>
                  <a:srgbClr val="454F5B"/>
                </a:solidFill>
                <a:latin typeface="Segoe UI"/>
              </a:rPr>
              <a:t>escondidas a mano, sin filtro de por medio.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Evidencia de exclusión: </a:t>
            </a:r>
            <a:r>
              <a:rPr sz="1300">
                <a:solidFill>
                  <a:srgbClr val="454F5B"/>
                </a:solidFill>
                <a:latin typeface="Segoe UI"/>
              </a:rPr>
              <a:t>para probar que un dealer NO está, la app despliega el dropdown dentro del form (el popup nativo no es fotografiable) y saca la captura del primer nivel de la cadena que falta. Si el dealer está cuando no debía, sale resaltado en amarillo.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El modal del Comparador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Comparando dealers… / país: </a:t>
            </a:r>
            <a:r>
              <a:rPr sz="1200">
                <a:solidFill>
                  <a:srgbClr val="454F5B"/>
                </a:solidFill>
                <a:latin typeface="Segoe UI"/>
              </a:rPr>
              <a:t>sobre qué mercado corre.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Barra de progreso sobre el total.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Línea de estado: </a:t>
            </a:r>
            <a:r>
              <a:rPr sz="1200">
                <a:solidFill>
                  <a:srgbClr val="454F5B"/>
                </a:solidFill>
                <a:latin typeface="Segoe UI"/>
              </a:rPr>
              <a:t>la combinación exacta en curso → 'Región: CABA · Ciudad: MATADEROS · Dealer: DANTE D'AMICO S.A.'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Resumen final: </a:t>
            </a:r>
            <a:r>
              <a:rPr sz="1200">
                <a:solidFill>
                  <a:srgbClr val="454F5B"/>
                </a:solidFill>
                <a:latin typeface="Segoe UI"/>
              </a:rPr>
              <a:t>PASS/FAIL bien grande, más EXTRA/DUPLICADO/OCULTO/NOTA si los hay, el total chequeado y un veredicto (✓ Todo OK o ⚠ N con problemas).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Detener: </a:t>
            </a:r>
            <a:r>
              <a:rPr sz="1200">
                <a:solidFill>
                  <a:srgbClr val="454F5B"/>
                </a:solidFill>
                <a:latin typeface="Segoe UI"/>
              </a:rPr>
              <a:t>pide confirmación antes de cortar. Como el Excel se guarda al terminar la Fase 1, si frenás durante las capturas el reporte igual queda.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Mientras corre, la ventana de atrás queda bloqueada, igual que en Envío de Leads.</a:t>
            </a:r>
          </a:p>
        </p:txBody>
      </p:sp>
      <p:pic>
        <p:nvPicPr>
          <p:cNvPr id="5" name="Picture 4" descr="18_modal_compar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43162"/>
            <a:ext cx="6720840" cy="4383156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A311"/>
                </a:solidFill>
                <a:latin typeface="Segoe UI"/>
              </a:rPr>
              <a:t>REFERENCIA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Estructura, build y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2DE"/>
                </a:solidFill>
                <a:latin typeface="Segoe UI"/>
              </a:rPr>
              <a:t>Dónde vive cada cosa y cómo se distribuye la app.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Estructura de carpetas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53949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core/: </a:t>
            </a:r>
            <a:r>
              <a:rPr sz="1300">
                <a:solidFill>
                  <a:srgbClr val="454F5B"/>
                </a:solidFill>
                <a:latin typeface="Segoe UI"/>
              </a:rPr>
              <a:t>lógica base de automatización y formularios por país, incluido dealer_comparator_runner.py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forms/: </a:t>
            </a:r>
            <a:r>
              <a:rPr sz="1300">
                <a:solidFill>
                  <a:srgbClr val="454F5B"/>
                </a:solidFill>
                <a:latin typeface="Segoe UI"/>
              </a:rPr>
              <a:t>scripts de entrada para ejecutar los formularios de cada país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interface/: </a:t>
            </a:r>
            <a:r>
              <a:rPr sz="1300">
                <a:solidFill>
                  <a:srgbClr val="454F5B"/>
                </a:solidFill>
                <a:latin typeface="Segoe UI"/>
              </a:rPr>
              <a:t>UI de administración (una pestaña por archivo) y utilidades de soporte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lambdatest_mac/ y lambdatest_android/: </a:t>
            </a:r>
            <a:r>
              <a:rPr sz="1300">
                <a:solidFill>
                  <a:srgbClr val="454F5B"/>
                </a:solidFill>
                <a:latin typeface="Segoe UI"/>
              </a:rPr>
              <a:t>runners y controllers para correr sobre LambdaTest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data/: </a:t>
            </a:r>
            <a:r>
              <a:rPr sz="1300">
                <a:solidFill>
                  <a:srgbClr val="454F5B"/>
                </a:solidFill>
                <a:latin typeface="Segoe UI"/>
              </a:rPr>
              <a:t>Excels de entrada por país/dispositivo. NO se versionan: los generás vos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drivers/: </a:t>
            </a:r>
            <a:r>
              <a:rPr sz="1300">
                <a:solidFill>
                  <a:srgbClr val="454F5B"/>
                </a:solidFill>
                <a:latin typeface="Segoe UI"/>
              </a:rPr>
              <a:t>drivers locales del navegador (chromedriver, geckodriver, msedgedriver)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868680"/>
            <a:ext cx="53949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resultados/: </a:t>
            </a:r>
            <a:r>
              <a:rPr sz="1300">
                <a:solidFill>
                  <a:srgbClr val="454F5B"/>
                </a:solidFill>
                <a:latin typeface="Segoe UI"/>
              </a:rPr>
              <a:t>resultados y capturas de Envío de Leads / LambdaTest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cta_evidence/: </a:t>
            </a:r>
            <a:r>
              <a:rPr sz="1300">
                <a:solidFill>
                  <a:srgbClr val="454F5B"/>
                </a:solidFill>
                <a:latin typeface="Segoe UI"/>
              </a:rPr>
              <a:t>capturas del chequeo de CTA y links rotos de la Thank You page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Dealerscheck_resultados/: </a:t>
            </a:r>
            <a:r>
              <a:rPr sz="1300">
                <a:solidFill>
                  <a:srgbClr val="454F5B"/>
                </a:solidFill>
                <a:latin typeface="Segoe UI"/>
              </a:rPr>
              <a:t>reportes y capturas del Comparador Dealers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json/: </a:t>
            </a:r>
            <a:r>
              <a:rPr sz="1300">
                <a:solidFill>
                  <a:srgbClr val="454F5B"/>
                </a:solidFill>
                <a:latin typeface="Segoe UI"/>
              </a:rPr>
              <a:t>configuración persistente (la memoria de la app)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utils/: </a:t>
            </a:r>
            <a:r>
              <a:rPr sz="1300">
                <a:solidFill>
                  <a:srgbClr val="454F5B"/>
                </a:solidFill>
                <a:latin typeface="Segoe UI"/>
              </a:rPr>
              <a:t>generación de datos, llenado AEM (T3), chequeo de CTA, programación y rutas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validation/: </a:t>
            </a:r>
            <a:r>
              <a:rPr sz="1300">
                <a:solidFill>
                  <a:srgbClr val="454F5B"/>
                </a:solidFill>
                <a:latin typeface="Segoe UI"/>
              </a:rPr>
              <a:t>motor de la pestaña Validación de Campos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Qué hay adentro de json/ — no la borres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Sin esta carpeta la app abre, pero no sabe cómo llenar los formularios.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98448"/>
          <a:ext cx="1091153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Archivo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Para qué sirve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field_validation_rules*.json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Reglas de Validación de Campos: regex, largos, mensajes esperados, dependencias.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ids_dinamicos.json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Campos con valor fijo tuyo en vez de un dato aleatorio. Admite varios valores (rota al azar).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fixed_field_mappings.json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Mapeos fijos de campo → valor, para forms que necesitan siempre lo mismo.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nuevos_campos_&lt;país&gt;.json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Campos extra detectados en el form. Se ven en 'Campos detectados' de IDs Dinámicos.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config_global.json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Tu config personal: email, access key de LambdaTest, preferencias. En .gitignore, NO viaja.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programacion_test.json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El calendario semanal de Programación de Tests. Se regenera solo.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dealer_comparator_settings.json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Los presets guardados del Comparador, por país. Se regenera solo.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Build portable y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Compilar: </a:t>
            </a:r>
            <a:r>
              <a:rPr sz="1300">
                <a:solidFill>
                  <a:srgbClr val="454F5B"/>
                </a:solidFill>
                <a:latin typeface="Segoe UI"/>
              </a:rPr>
              <a:t>.\build.bat — genera solo dist/OsocioFormAutomation_portable/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El portable trae el .exe más data/, drivers/, json/, resultados/, temporales/, Dealerscheck_resultados/ y las carpetas de resultados de LambdaTest. Se abre con el .bat incluido.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lambdatest_mac/ y lambdatest_android/ van empaquetados DENTRO del .exe, no como carpetas sueltas.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OJO: </a:t>
            </a:r>
            <a:r>
              <a:rPr sz="1300">
                <a:solidFill>
                  <a:srgbClr val="454F5B"/>
                </a:solidFill>
                <a:latin typeface="Segoe UI"/>
              </a:rPr>
              <a:t>el .exe se compila desde el código fuente en el momento del build. Si cambiás código, tenés que volver a correr build.bat — abrir el .exe viejo sigue ejecutando la versión anterior. Para probar cambios al toque, corré python run.py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El portable arranca limpio: </a:t>
            </a:r>
            <a:r>
              <a:rPr sz="1300">
                <a:solidFill>
                  <a:srgbClr val="454F5B"/>
                </a:solidFill>
                <a:latin typeface="Segoe UI"/>
              </a:rPr>
              <a:t>sin schedule activo, sin config del Comparador y sin config_global.json, para no llevarse el email ni la access key de la PC donde se compiló.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Seguridad: </a:t>
            </a:r>
            <a:r>
              <a:rPr sz="1300">
                <a:solidFill>
                  <a:srgbClr val="454F5B"/>
                </a:solidFill>
                <a:latin typeface="Segoe UI"/>
              </a:rPr>
              <a:t>lambdatest_credentials.txt y json/config_global.json están en .gitignore. Nunca se suben al repositorio ni se incluyen en el build.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Los drivers deben distribuirse manualmente dentro de drivers/. La app no los descarga sola: si el navegador se actualiza y el driver queda desfasado, reemplazá el .exe correspondiente.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371600" cy="100584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Fin de la guía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2DE"/>
                </a:solidFill>
                <a:latin typeface="Segoe UI"/>
              </a:rPr>
              <a:t>Osocio — Form Automation
El historial detallado de versiones anteriores está en README_HISTORIAL_ANTERIOR.md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5766</Words>
  <Application>Microsoft Office PowerPoint</Application>
  <PresentationFormat>Panorámica</PresentationFormat>
  <Paragraphs>352</Paragraphs>
  <Slides>47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2" baseType="lpstr">
      <vt:lpstr>Aptos</vt:lpstr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Elian Zás Herrera (Omnicom)</cp:lastModifiedBy>
  <cp:revision>1</cp:revision>
  <dcterms:created xsi:type="dcterms:W3CDTF">2013-01-27T09:14:16Z</dcterms:created>
  <dcterms:modified xsi:type="dcterms:W3CDTF">2026-07-21T16:41:54Z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2026-07-21T16:41:54Z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e0179488-d9d0-4236-913b-308d703b6673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- Not for Public Consumption or Distribution</vt:lpwstr>
  </property>
</Properties>
</file>